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182880"/>
            <a:ext cx="5303520" cy="4297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8720" y="4663440"/>
            <a:ext cx="9811512" cy="54864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773168"/>
            <a:ext cx="11274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E8B400"/>
                </a:solidFill>
                <a:latin typeface="Calibri"/>
              </a:rPr>
              <a:t>SISTEMA DE GESTIÓN DE RESTAURANTE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41264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Chicharronería CADE  ·  Software Integral para Restaurante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2743200" cy="2286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312" y="137160"/>
            <a:ext cx="260604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B400"/>
                </a:solidFill>
                <a:latin typeface="Calibri"/>
              </a:rPr>
              <a:t>SOBRE 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Sistema de Gestión de Restaurante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8229600" cy="4572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D9E4EF"/>
                </a:solidFill>
                <a:latin typeface="Calibri"/>
              </a:rPr>
              <a:t>Plataforma web integral diseñada para Chicharronería CADE que digitaliza y optimiza
toda la operación: desde la toma de pedidos en mesa hasta el cierre de caja,
con flujos en tiempo real para cocina y bar.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2651760" cy="2606040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2651760" cy="64008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B400"/>
                </a:solidFill>
                <a:latin typeface="Calibri"/>
              </a:rPr>
              <a:t>Tiempo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9E4EF"/>
                </a:solidFill>
                <a:latin typeface="Calibri"/>
              </a:rPr>
              <a:t>Tickets y estados actualizados al instante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337560"/>
            <a:ext cx="2651760" cy="2606040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3337560"/>
            <a:ext cx="265176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34747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B400"/>
                </a:solidFill>
                <a:latin typeface="Calibri"/>
              </a:rPr>
              <a:t>Flujo Completo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709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9E4EF"/>
                </a:solidFill>
                <a:latin typeface="Calibri"/>
              </a:rPr>
              <a:t>Mesa → Cocina/Bar → Cobro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2651760" cy="2606040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337560"/>
            <a:ext cx="2651760" cy="64008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4747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B400"/>
                </a:solidFill>
                <a:latin typeface="Calibri"/>
              </a:rPr>
              <a:t>Responsivo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709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9E4EF"/>
                </a:solidFill>
                <a:latin typeface="Calibri"/>
              </a:rPr>
              <a:t>Móvil, tablet y desktop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651760" cy="2606040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98280" y="3337560"/>
            <a:ext cx="2651760" cy="6400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98280" y="34747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297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B400"/>
                </a:solidFill>
                <a:latin typeface="Calibri"/>
              </a:rP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709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9E4EF"/>
                </a:solidFill>
                <a:latin typeface="Calibri"/>
              </a:rPr>
              <a:t>Roles y permisos por usuario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ÍNDICE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Módulos del Sistema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353312"/>
            <a:ext cx="2651760" cy="157276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353312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4081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276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591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1353312"/>
            <a:ext cx="2651760" cy="15727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27248" y="1353312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27248" y="14081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16276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23591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Comandas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4456" y="1353312"/>
            <a:ext cx="2651760" cy="15727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34456" y="1353312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34456" y="14081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456" y="16276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👨‍🍳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456" y="23591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Cocina KDS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41664" y="1353312"/>
            <a:ext cx="2651760" cy="15727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41664" y="1353312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41664" y="14081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1664" y="162763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1664" y="23591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Bar KDS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54096"/>
            <a:ext cx="2651760" cy="157276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054096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2841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🍽️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0599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Carta / Menú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3054096"/>
            <a:ext cx="2651760" cy="15727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27248" y="3054096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27248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7248" y="332841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7248" y="40599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Caja / Pagos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34456" y="3054096"/>
            <a:ext cx="2651760" cy="15727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34456" y="3054096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34456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4456" y="332841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34456" y="40599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Reservas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41664" y="3054096"/>
            <a:ext cx="2651760" cy="15727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741664" y="3054096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41664" y="3108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41664" y="3328416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41664" y="40599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Inventario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754880"/>
            <a:ext cx="2651760" cy="15727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4754880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040" y="4809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502920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5760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Proveedores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27248" y="4754880"/>
            <a:ext cx="2651760" cy="1572768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127248" y="4754880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127248" y="4809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27248" y="502920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27248" y="5760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Usuarios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34456" y="4754880"/>
            <a:ext cx="2651760" cy="15727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934456" y="4754880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34456" y="4809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34456" y="502920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34456" y="5760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Reportes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41664" y="4754880"/>
            <a:ext cx="2651760" cy="157276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741664" y="4754880"/>
            <a:ext cx="2651760" cy="50292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41664" y="4809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Módulo 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41664" y="5029200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🖨️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41664" y="5760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Impresoras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Gestión de Mesas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 dirty="0">
                <a:solidFill>
                  <a:srgbClr val="FFFFFF"/>
                </a:solidFill>
                <a:latin typeface="Segoe UI Emoji"/>
              </a:rPr>
              <a:t>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Control integral del salón con visualización en tiempo real de estados, zonas y capacidades.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6 estados: Libre, Ocupada, Reservada, Esperando pago, En limpieza, Unida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F2937"/>
                </a:solidFill>
                <a:latin typeface="Calibri"/>
              </a:rPr>
              <a:t>4 zonas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configurables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: Salón, Terraza, Barra y VIP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Crear y eliminar mesas dinámicamente desde la interfaz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1F2937"/>
                </a:solidFill>
                <a:latin typeface="Calibri"/>
              </a:rPr>
              <a:t>Unir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/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separar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mesas para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comandas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compartidas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entre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grupos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grandes</a:t>
            </a:r>
            <a:endParaRPr sz="14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Panel lateral con comanda activa, resumen de ítems y cambio rápido de estado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Comandas y Toma de Pedidos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Gestión completa del ciclo de vida de cada pedido, desde la toma en mesa hasta el cobro.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Carta digital organizada por categorías con búsqueda en tiempo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Notas especiales por ítem (sin sal, término, alergias, preferencias)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Desglose automático por área de producción: Cocina y 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Historial de comandas activas con estado, total y tiempo transcurrido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Visualización de ítems pendientes y listos por comanda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Cocina KDS — Kitchen Display System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👨‍🍳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Panel kanban en tiempo real para el equipo de cocina con flujo de preparación completo.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3 columnas: Nuevas → En preparación → Listas para servir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Temporizador por comanda con alerta visual roja a los 20 minutos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Control ítem por ítem: Iniciar preparación, Marcar listo, Servido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Botón 'Iniciar todo' para acelerar el servicio en hora pico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Muestra únicamente platos de cocina (entradas, fondos, postres, extras)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Bar KDS — Bar Display System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Panel exclusivo para el bar con flujo independiente de bebidas y cócteles.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Flujo propio: Nuevas → Preparando → Listos para servir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Alerta de urgencia a los 10 minutos (bebidas se sirven más rápido)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Filtrado automático: solo muestra bebidas y cócteles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Botón 'Preparar todo' para atención rápida en hora pico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Esquema de color ámbar diferenciado del KDS de cocina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Carta / Menú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🍽️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Catálogo digital completo de productos con gestión CRUD y control de disponibilidad.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6 categorías: Entradas, Fondos, Bebidas, Bar/Cócteles, Postres, Extras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Crear, editar y eliminar productos con nombre, descripción, precio y tiempo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Toggle de disponibilidad en tiempo real sin eliminar el producto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18 bebidas alcohólicas precargadas: cervezas, cócteles, vinos y más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Búsqueda y filtrado por categoría para gestión ágil del menú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Caja y Pagos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Módulo de cobro con múltiples métodos de pago, descuentos y registro de ventas.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4 métodos: Efectivo, Tarjeta, Yape/Plin y Mixto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Cálculo automático de IGV (18%), descuento porcentual y propina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Cálculo de vuelto instantáneo para pagos en efectivo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KPIs del día: ventas totales, comandas cerradas y pendientes de cobro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Cambio automático de estado de mesa a 'En limpieza' al cobrar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Reservas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Gestión de reservaciones con asignación de mesas y control de estados.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Registro de reservas: fecha, hora, personas y datos de contacto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Asignación de mesa disponible al confirmar la reserva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Estados: Confirmada, Pendiente, Cancelada y Completada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Vista de próximas llegadas con alertas de tiempo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Actualización automática del estado de mesa a Reservada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Inventario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Control de stock de insumos con alertas, movimientos y trazabilidad completa.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Registro de insumos con stock actual, mínimo y unidad de medida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Alertas visuales de stock bajo y productos agotados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Movimientos de entrada por compra y salida por consumo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Historial de movimientos con fecha, cantidad y responsable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Categorización: Carnes, Bebidas, Verduras, Lácteos, Condimentos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Proveedores y Compras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Gestión del ciclo de compras con proveedores, órdenes y flujo de aprobación.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Directorio de proveedores con datos de contacto y productos que ofrecen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Creación de órdenes de compra con detalle de ítems y montos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Flujo: Borrador → Enviada → Aprobada → Recibida → Cancelada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Historial de compras por proveedor con trazabilidad completa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Actualización de inventario al registrar recepción de productos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Usuarios y Roles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Administración del personal con roles diferenciados, permisos y control de turnos.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5 roles: Administrador, Cajero, Mozo, Cocinero y Almacenero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Permisos granulares por módulo según el rol asignado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Gestión de turnos con inicio y cierre de turno por empleado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Registro de personal con datos completos y estado activo/inactivo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Control de acceso a módulos según perfil de usuario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Reportes y Analíticas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Dashboard ejecutivo con métricas clave de ventas, ocupación y rendimiento.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KPIs del día: ventas totales, comandas, ticket promedio y ocupación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Gráfico de ventas por hora con tendencia diaria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Ranking de los productos más vendidos del período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Distribución de ventas por categoría con porcentajes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Resumen de métodos de pago utilizados en el turno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E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347472"/>
            <a:ext cx="960120" cy="4572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" y="365760"/>
            <a:ext cx="9235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MÓDULO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43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Configuración de Impresoras</a:t>
            </a:r>
          </a:p>
        </p:txBody>
      </p:sp>
      <p:pic>
        <p:nvPicPr>
          <p:cNvPr id="8" name="Picture 7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45720"/>
            <a:ext cx="2331720" cy="1783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417320"/>
            <a:ext cx="2423160" cy="2194560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🖨️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2423160" cy="292608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8B400"/>
                </a:solidFill>
                <a:latin typeface="Calibri"/>
              </a:rPr>
              <a:t>FUNCIONES CLAVE</a:t>
            </a:r>
          </a:p>
        </p:txBody>
      </p:sp>
      <p:pic>
        <p:nvPicPr>
          <p:cNvPr id="13" name="Picture 1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60520"/>
            <a:ext cx="2240280" cy="16916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26080" y="1463040"/>
            <a:ext cx="8961120" cy="22860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Gestión de impresoras térmicas por área con soporte de múltiples tipos de conexión.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578608"/>
            <a:ext cx="164592" cy="164592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237744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3 áreas: Cocina (tickets de platos), Bar (bebidas) y Caja (recibos)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328416"/>
            <a:ext cx="164592" cy="164592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2724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3 tipos de conexión: Red TCP/IP con IP:Puerto, USB y Bluetooth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078224"/>
            <a:ext cx="164592" cy="164592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0" y="3877056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Soporte de ancho de papel: 58 mm y 80 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828032"/>
            <a:ext cx="164592" cy="164592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462686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Activar/desactivar impresoras sin eliminar la configuración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577840"/>
            <a:ext cx="164592" cy="164592"/>
          </a:xfrm>
          <a:prstGeom prst="rect">
            <a:avLst/>
          </a:prstGeom>
          <a:solidFill>
            <a:srgbClr val="1C3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5376672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Prueba de impresión con confirmación visual por notificación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236" y="274320"/>
            <a:ext cx="3840480" cy="3063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45920" y="3520440"/>
            <a:ext cx="8897112" cy="54864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8B400"/>
                </a:solidFill>
                <a:latin typeface="Calibri"/>
              </a:rPr>
              <a:t>¡Gracias!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Sistema de Gestión de Restaurante — Chicharronería 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React + TypeScript + Node.js + Socket.io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3200400" cy="228600"/>
          </a:xfrm>
          <a:prstGeom prst="rect">
            <a:avLst/>
          </a:prstGeom>
          <a:solidFill>
            <a:srgbClr val="E8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1101</Words>
  <Application>Microsoft Office PowerPoint</Application>
  <PresentationFormat>Personalizado</PresentationFormat>
  <Paragraphs>178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Josué David Cayotopa Tamay</cp:lastModifiedBy>
  <cp:revision>2</cp:revision>
  <dcterms:created xsi:type="dcterms:W3CDTF">2013-01-27T09:14:16Z</dcterms:created>
  <dcterms:modified xsi:type="dcterms:W3CDTF">2026-09-13T00:00:18Z</dcterms:modified>
  <cp:category/>
</cp:coreProperties>
</file>